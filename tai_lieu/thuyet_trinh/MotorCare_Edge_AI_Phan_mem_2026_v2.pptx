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84f218b565471b" /><Relationship Type="http://schemas.openxmlformats.org/officeDocument/2006/relationships/extended-properties" Target="/docProps/app.xml" Id="R23007f89aa2540d6" /><Relationship Type="http://schemas.openxmlformats.org/officeDocument/2006/relationships/officeDocument" Target="/ppt/presentation.xml" Id="Raab120f8f47c4a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51cfd250444cf7"/>
  </p:sldMasterIdLst>
  <p:notesMasterIdLst>
    <p:notesMasterId xmlns:r="http://schemas.openxmlformats.org/officeDocument/2006/relationships" r:id="R87d19047222c4e70"/>
  </p:notesMasterIdLst>
  <p:sldIdLst>
    <p:sldId xmlns:r="http://schemas.openxmlformats.org/officeDocument/2006/relationships" id="256" r:id="R400e437d3e5e41e7"/>
    <p:sldId xmlns:r="http://schemas.openxmlformats.org/officeDocument/2006/relationships" id="257" r:id="Re9834624738a4c37"/>
    <p:sldId xmlns:r="http://schemas.openxmlformats.org/officeDocument/2006/relationships" id="258" r:id="R9afbc4cd79cc4e8c"/>
    <p:sldId xmlns:r="http://schemas.openxmlformats.org/officeDocument/2006/relationships" id="259" r:id="Re9130243968d48b1"/>
    <p:sldId xmlns:r="http://schemas.openxmlformats.org/officeDocument/2006/relationships" id="260" r:id="R9d1f97f4517e4753"/>
    <p:sldId xmlns:r="http://schemas.openxmlformats.org/officeDocument/2006/relationships" id="261" r:id="Rf3ac7ea1894a4128"/>
    <p:sldId xmlns:r="http://schemas.openxmlformats.org/officeDocument/2006/relationships" id="262" r:id="R21167695967f4a68"/>
    <p:sldId xmlns:r="http://schemas.openxmlformats.org/officeDocument/2006/relationships" id="263" r:id="Rfcde5ccb4cdc4f6b"/>
    <p:sldId xmlns:r="http://schemas.openxmlformats.org/officeDocument/2006/relationships" id="264" r:id="Rf3d8d60e35ea418f"/>
    <p:sldId xmlns:r="http://schemas.openxmlformats.org/officeDocument/2006/relationships" id="265" r:id="Rfb5f8dc2965446c7"/>
    <p:sldId xmlns:r="http://schemas.openxmlformats.org/officeDocument/2006/relationships" id="266" r:id="R9ed3f33987134f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3ebbee39da4456" /><Relationship Type="http://schemas.openxmlformats.org/officeDocument/2006/relationships/slideMaster" Target="/ppt/slideMasters/slideMaster1.xml" Id="Rc251cfd250444cf7" /><Relationship Type="http://schemas.openxmlformats.org/officeDocument/2006/relationships/notesMaster" Target="/ppt/notesMasters/notesMaster1.xml" Id="R87d19047222c4e70" /><Relationship Type="http://schemas.openxmlformats.org/officeDocument/2006/relationships/presProps" Target="/ppt/presProps.xml" Id="R56582b65678e4a24" /><Relationship Type="http://schemas.openxmlformats.org/officeDocument/2006/relationships/tableStyles" Target="/ppt/tableStyles.xml" Id="R84e26ab238ae47c8" /><Relationship Type="http://schemas.openxmlformats.org/officeDocument/2006/relationships/slide" Target="/ppt/slides/slide1.xml" Id="R400e437d3e5e41e7" /><Relationship Type="http://schemas.openxmlformats.org/officeDocument/2006/relationships/slide" Target="/ppt/slides/slide2.xml" Id="Re9834624738a4c37" /><Relationship Type="http://schemas.openxmlformats.org/officeDocument/2006/relationships/slide" Target="/ppt/slides/slide3.xml" Id="R9afbc4cd79cc4e8c" /><Relationship Type="http://schemas.openxmlformats.org/officeDocument/2006/relationships/slide" Target="/ppt/slides/slide4.xml" Id="Re9130243968d48b1" /><Relationship Type="http://schemas.openxmlformats.org/officeDocument/2006/relationships/slide" Target="/ppt/slides/slide5.xml" Id="R9d1f97f4517e4753" /><Relationship Type="http://schemas.openxmlformats.org/officeDocument/2006/relationships/slide" Target="/ppt/slides/slide6.xml" Id="Rf3ac7ea1894a4128" /><Relationship Type="http://schemas.openxmlformats.org/officeDocument/2006/relationships/slide" Target="/ppt/slides/slide7.xml" Id="R21167695967f4a68" /><Relationship Type="http://schemas.openxmlformats.org/officeDocument/2006/relationships/slide" Target="/ppt/slides/slide8.xml" Id="Rfcde5ccb4cdc4f6b" /><Relationship Type="http://schemas.openxmlformats.org/officeDocument/2006/relationships/slide" Target="/ppt/slides/slide9.xml" Id="Rf3d8d60e35ea418f" /><Relationship Type="http://schemas.openxmlformats.org/officeDocument/2006/relationships/slide" Target="/ppt/slides/slide10.xml" Id="Rfb5f8dc2965446c7" /><Relationship Type="http://schemas.openxmlformats.org/officeDocument/2006/relationships/slide" Target="/ppt/slides/slide11.xml" Id="R9ed3f33987134f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4ef89eeb8748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c7f6d01439407a" /><Relationship Type="http://schemas.openxmlformats.org/officeDocument/2006/relationships/notesMaster" Target="/ppt/notesMasters/notesMaster1.xml" Id="Reb088b79c81a4f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9e11dc7a8d4f19" /><Relationship Type="http://schemas.openxmlformats.org/officeDocument/2006/relationships/notesMaster" Target="/ppt/notesMasters/notesMaster1.xml" Id="R8c0ff0303e9c43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3fb5f83b3049fc" /><Relationship Type="http://schemas.openxmlformats.org/officeDocument/2006/relationships/notesMaster" Target="/ppt/notesMasters/notesMaster1.xml" Id="R39f407d067314a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b33fb228614fd2" /><Relationship Type="http://schemas.openxmlformats.org/officeDocument/2006/relationships/notesMaster" Target="/ppt/notesMasters/notesMaster1.xml" Id="R6dff419ae5e04a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41f244acba4bc3" /><Relationship Type="http://schemas.openxmlformats.org/officeDocument/2006/relationships/notesMaster" Target="/ppt/notesMasters/notesMaster1.xml" Id="R3ebe42c3e3cd43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4ded5914dc4592" /><Relationship Type="http://schemas.openxmlformats.org/officeDocument/2006/relationships/notesMaster" Target="/ppt/notesMasters/notesMaster1.xml" Id="R837f3b8ec1da4e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abb359109d4fe8" /><Relationship Type="http://schemas.openxmlformats.org/officeDocument/2006/relationships/notesMaster" Target="/ppt/notesMasters/notesMaster1.xml" Id="Rbe038062d42d49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62e0ae76974292" /><Relationship Type="http://schemas.openxmlformats.org/officeDocument/2006/relationships/notesMaster" Target="/ppt/notesMasters/notesMaster1.xml" Id="Ra760ed455f8249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bec658f74f484f" /><Relationship Type="http://schemas.openxmlformats.org/officeDocument/2006/relationships/notesMaster" Target="/ppt/notesMasters/notesMaster1.xml" Id="R0522272b143d4f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9e95a102ae4758" /><Relationship Type="http://schemas.openxmlformats.org/officeDocument/2006/relationships/notesMaster" Target="/ppt/notesMasters/notesMaster1.xml" Id="R6a11e7d07d4044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6506fe34344544" /><Relationship Type="http://schemas.openxmlformats.org/officeDocument/2006/relationships/notesMaster" Target="/ppt/notesMasters/notesMaster1.xml" Id="R3e1ed9fb171843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đầu bằng phạm vi phần mềm: hệ thống web, API, dữ liệu, AI và firmware nhúng.</a:t>
            </a:r>
          </a:p>
          <a:p xmlns:a="http://schemas.openxmlformats.org/drawingml/2006/main">
            <a:r>
              <a:t>Nguồn: README.md; package.json; ma_nguon/giao_dien/kieu_dang/ung_dung.css.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Phạm vi slide không mô tả cấu tạo phần cứng. Firmware được xem là một thành phần phần mềm.</a:t>
            </a:r>
          </a:p>
          <a:p xmlns:a="http://schemas.openxmlformats.org/drawingml/2006/main">
            <a:r>
              <a:t>Nguồn: README.md; ma_nguon/giao_dien/trang/bang_dieu_khien.html.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Nhấn mạnh trải nghiệm xuyên suốt thay vì từng màn hình riêng lẻ.</a:t>
            </a:r>
          </a:p>
          <a:p xmlns:a="http://schemas.openxmlformats.org/drawingml/2006/main">
            <a:r>
              <a:t>Nguồn: README.md; ma_nguon/may_chu/dich_vu/goi_phan_mem_nhung.dich_vu.js; ma_nguon/giao_dien/trang/bang_dieu_khien.html.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Luồng thiết bị và luồng trình duyệt gặp nhau tại Express API, sau đó đi qua service và repository.</a:t>
            </a:r>
          </a:p>
          <a:p xmlns:a="http://schemas.openxmlformats.org/drawingml/2006/main">
            <a:r>
              <a:t>Nguồn: ma_nguon/may_chu/ung_dung.js; ma_nguon/may_chu/tuyen; ma_nguon/may_chu/dich_vu; ma_nguon/may_chu/kho_du_lieu;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bên trái là bản tái dựng chỉnh sửa được dựa trên giao diện thật của dashboard.</a:t>
            </a:r>
          </a:p>
          <a:p xmlns:a="http://schemas.openxmlformats.org/drawingml/2006/main">
            <a:r>
              <a:t>Dữ liệu đường biểu diễn là dữ liệu demo minh họa từ script seed.</a:t>
            </a:r>
          </a:p>
          <a:p xmlns:a="http://schemas.openxmlformats.org/drawingml/2006/main">
            <a:r>
              <a:t>Nguồn: ma_nguon/giao_dien/trang/bang_dieu_khien.html; ma_nguon/giao_dien/ma_javascript/chuc_nang/bang_dieu_khien.js; ma_nguon/may_chu/co_so_du_lieu/tao_du_lieu_mau.js.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trình bày chỉ số chính xác của mô hình vì repository hiện không lưu artifact metadata đã huấn luyện.</a:t>
            </a:r>
          </a:p>
          <a:p xmlns:a="http://schemas.openxmlformats.org/drawingml/2006/main">
            <a:r>
              <a:t>Nguồn: ma_nguon/tri_tue_nhan_tao/du_lieu/summary.json; feature_columns.json; huan_luyen/huan_luyen_mo_hinh.py; xu_ly_tin_hieu/dac_trung.py.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Ngưỡng AI mặc định bắt đầu từ 50% và có thể cấu hình bằng AI_ALERT_THRESHOLD trong khoảng 0,5 đến 0,95.</a:t>
            </a:r>
          </a:p>
          <a:p xmlns:a="http://schemas.openxmlformats.org/drawingml/2006/main">
            <a:r>
              <a:t>Nguồn: ma_nguon/may_chu/dich_vu/cam_bien.dich_vu.js; ma_nguon/may_chu/kho_du_lieu/canh_bao.kho_du_lieu.js.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Số lượng route, migration và file backend được đếm trực tiếp từ repository tại thời điểm tạo deck.</a:t>
            </a:r>
          </a:p>
          <a:p xmlns:a="http://schemas.openxmlformats.org/drawingml/2006/main">
            <a:r>
              <a:t>Nguồn: ma_nguon/may_chu/tuyen; ma_nguon/may_chu/co_so_du_lieu/chuyen_doi; ma_nguon/may_chu; package.json;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hiển thị bí mật thật hoặc cấu hình môi trường trong slide.</a:t>
            </a:r>
          </a:p>
          <a:p xmlns:a="http://schemas.openxmlformats.org/drawingml/2006/main">
            <a:r>
              <a:t>Nguồn: ma_nguon/may_chu/dich_vu/xac_thuc.dich_vu.js; tien_ich/mat_khau.js; trung_gian/bao_mat.trung_gian.js;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quả 19/19 được ghi nhận từ npm test trong ngày 15/10/2026: 17 kiểm thử máy chủ và 2 kiểm thử AI.</a:t>
            </a:r>
          </a:p>
          <a:p xmlns:a="http://schemas.openxmlformats.org/drawingml/2006/main">
            <a:r>
              <a:t>Nguồn: package.json; ma_nguon/kiem_thu; README.md; vercel.json; scripts/chuan_bi_vercel.js.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Bốn hướng mở rộng là đề xuất, không mô tả chức năng đã có.</a:t>
            </a:r>
          </a:p>
          <a:p xmlns:a="http://schemas.openxmlformats.org/drawingml/2006/main">
            <a:r>
              <a:t>Nguồn cho chức năng hiện tại: README.md và các module trong ma_nguon. Các mục hướng mở rộng là khuyến nghị của người soạn.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791787d88340f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4e9fcec5834f0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952706024f4e3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da2ae1dc72405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6cdd384a7e431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45755282e44f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8DFBC3-E7CB-46F9-978B-3F147992CE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341B8D0-2EC4-4005-9822-50E4DE599B6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27811D2-A1F7-4EA4-AE05-B98B8F2DD3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C2FD5B-C369-4507-9064-872CDA389F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8241F2E-AB67-4421-ADE6-B92A9EDF2B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D8DC555-FC1C-419A-8567-D8982A15BD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5D299E9-8ED6-440F-B7B8-6A1584C8D7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ACE961A-60B0-4045-BFE0-172A87EB08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BF3025-C737-43AC-8B57-21FA1F2561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532722C-43EA-4AB9-B8F1-56B45471B4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84fa80b9ce4ad7" /><Relationship Type="http://schemas.openxmlformats.org/officeDocument/2006/relationships/slideLayout" Target="/ppt/slideLayouts/slideLayout1.xml" Id="R5cb087d7cdea4db0" /><Relationship Type="http://schemas.openxmlformats.org/officeDocument/2006/relationships/slideLayout" Target="/ppt/slideLayouts/slideLayout2.xml" Id="R9e05e419016247eb" /><Relationship Type="http://schemas.openxmlformats.org/officeDocument/2006/relationships/slideLayout" Target="/ppt/slideLayouts/slideLayout3.xml" Id="Rd2e044b5a2a64b18" /><Relationship Type="http://schemas.openxmlformats.org/officeDocument/2006/relationships/slideLayout" Target="/ppt/slideLayouts/slideLayout4.xml" Id="Rc831ac750b604428" /><Relationship Type="http://schemas.openxmlformats.org/officeDocument/2006/relationships/slideLayout" Target="/ppt/slideLayouts/slideLayout5.xml" Id="Rad5fb904b48841d1" /><Relationship Type="http://schemas.openxmlformats.org/officeDocument/2006/relationships/slideLayout" Target="/ppt/slideLayouts/slideLayout6.xml" Id="Ra70408ea97f242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b087d7cdea4db0"/>
    <p:sldLayoutId xmlns:r="http://schemas.openxmlformats.org/officeDocument/2006/relationships" id="2147483650" r:id="R9e05e419016247eb"/>
    <p:sldLayoutId xmlns:r="http://schemas.openxmlformats.org/officeDocument/2006/relationships" id="2147483651" r:id="Rd2e044b5a2a64b18"/>
    <p:sldLayoutId xmlns:r="http://schemas.openxmlformats.org/officeDocument/2006/relationships" id="2147483652" r:id="Rc831ac750b604428"/>
    <p:sldLayoutId xmlns:r="http://schemas.openxmlformats.org/officeDocument/2006/relationships" id="2147483653" r:id="Rad5fb904b48841d1"/>
    <p:sldLayoutId xmlns:r="http://schemas.openxmlformats.org/officeDocument/2006/relationships" id="2147483654" r:id="Ra70408ea97f242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2225d562fb4e5a" /><Relationship Type="http://schemas.openxmlformats.org/officeDocument/2006/relationships/notesSlide" Target="/ppt/notesSlides/notesSlide1.xml" Id="Ra8a943c9486347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7fe18da9a84749" /><Relationship Type="http://schemas.openxmlformats.org/officeDocument/2006/relationships/notesSlide" Target="/ppt/notesSlides/notesSlide2.xml" Id="Rd7b32b17b42a46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cd60d40a7b4821" /><Relationship Type="http://schemas.openxmlformats.org/officeDocument/2006/relationships/notesSlide" Target="/ppt/notesSlides/notesSlide3.xml" Id="R15f7f756833940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d18e279cef4726" /><Relationship Type="http://schemas.openxmlformats.org/officeDocument/2006/relationships/notesSlide" Target="/ppt/notesSlides/notesSlide4.xml" Id="Raedfd71f49644f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aabe8223554f78" /><Relationship Type="http://schemas.openxmlformats.org/officeDocument/2006/relationships/chart" Target="/ppt/slides/charts/chart1.xml" Id="Rad5478d395364e73" /><Relationship Type="http://schemas.openxmlformats.org/officeDocument/2006/relationships/notesSlide" Target="/ppt/notesSlides/notesSlide5.xml" Id="R1f73ba125fe048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366637ba264a6d" /><Relationship Type="http://schemas.openxmlformats.org/officeDocument/2006/relationships/notesSlide" Target="/ppt/notesSlides/notesSlide6.xml" Id="R3d3bf91533d646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59fc65312d44c4" /><Relationship Type="http://schemas.openxmlformats.org/officeDocument/2006/relationships/notesSlide" Target="/ppt/notesSlides/notesSlide7.xml" Id="R2d90053bc1864a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43848df35948a7" /><Relationship Type="http://schemas.openxmlformats.org/officeDocument/2006/relationships/notesSlide" Target="/ppt/notesSlides/notesSlide8.xml" Id="R1861d8a2c3be4a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27abd6c3d74314" /><Relationship Type="http://schemas.openxmlformats.org/officeDocument/2006/relationships/notesSlide" Target="/ppt/notesSlides/notesSlide9.xml" Id="Ra4c1f7cc66bd435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75b59c157248b1" /><Relationship Type="http://schemas.openxmlformats.org/officeDocument/2006/relationships/notesSlide" Target="/ppt/notesSlides/notesSlide10.xml" Id="R28c5cc63ed8445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5fa06fb39a4572" /><Relationship Type="http://schemas.openxmlformats.org/officeDocument/2006/relationships/notesSlide" Target="/ppt/notesSlides/notesSlide11.xml" Id="R07321ff7f3fa47d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Độ rung RMS</c:v>
          </c:tx>
          <c:spPr>
            <a:ln xmlns:a="http://schemas.openxmlformats.org/drawingml/2006/main" w="28575">
              <a:solidFill>
                <a:srgbClr val="1769E8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769E8"/>
              </a:solidFill>
            </c:spPr>
          </c:marker>
          <c:cat>
            <c:strRef>
              <c:f>'Chart Data'!$A$2:$A$7</c:f>
              <c:strCache>
                <c:ptCount val="6"/>
                <c:pt idx="0">
                  <c:v>10:00</c:v>
                </c:pt>
                <c:pt idx="1">
                  <c:v>10:10</c:v>
                </c:pt>
                <c:pt idx="2">
                  <c:v>10:20</c:v>
                </c:pt>
                <c:pt idx="3">
                  <c:v>10:30</c:v>
                </c:pt>
                <c:pt idx="4">
                  <c:v>10:40</c:v>
                </c:pt>
                <c:pt idx="5">
                  <c:v>10:50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2.45</c:v>
                </c:pt>
                <c:pt idx="1">
                  <c:v>2.66</c:v>
                </c:pt>
                <c:pt idx="2">
                  <c:v>2.31</c:v>
                </c:pt>
                <c:pt idx="3">
                  <c:v>2.82</c:v>
                </c:pt>
                <c:pt idx="4">
                  <c:v>2.58</c:v>
                </c:pt>
                <c:pt idx="5">
                  <c:v>2.7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4E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.2"/>
          <c:min val="2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4E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4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E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B0E102-4C81-4682-BD01-9F8AB9B51AAB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9115425" y="3771900"/>
            <a:ext cx="1162050" cy="419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6C8FF"/>
            </a:solidFill>
            <a:prstDash val="solid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2603FB-6F0C-43FC-951A-C0976D31E2F6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9553575" y="2324100"/>
            <a:ext cx="723900" cy="419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6C8FF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56032B-8797-4489-BAB9-AD3FBF01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2400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3657"/>
          </a:solidFill>
          <a:ln xmlns:a="http://schemas.openxmlformats.org/drawingml/2006/main" w="9525">
            <a:solidFill>
              <a:srgbClr val="2A527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CDE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CDE2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DE2FF"/>
                </a:solidFill>
                <a:latin typeface="Arial"/>
                <a:ea typeface="Arial"/>
                <a:cs typeface="Arial"/>
              </a:rPr>
              <a:t>BỘ THUYẾT TRÌNH PHẦN MỀM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EC2347-FDC8-4234-8697-DBAC3EE7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619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4650" b="1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465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MotorCare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650" b="1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465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Edge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C48EF-4649-4980-8EAF-72F53A00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C9D8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0">
                <a:solidFill>
                  <a:srgbClr val="C9D8E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9D8E8"/>
                </a:solidFill>
                <a:latin typeface="Arial"/>
                <a:ea typeface="Arial"/>
                <a:cs typeface="Arial"/>
              </a:rPr>
              <a:t>Nền tảng giám sát và chẩn đoán tình trạng động cơ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879BF-749D-4242-B72F-221ACAAD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C8FF"/>
          </a:solidFill>
          <a:ln xmlns:a="http://schemas.openxmlformats.org/drawingml/2006/main" w="0">
            <a:solidFill>
              <a:srgbClr val="36C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9E948-D323-4A00-8AF2-76CC4310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9FB4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9FB4C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FB4C8"/>
                </a:solidFill>
                <a:latin typeface="Arial"/>
                <a:ea typeface="Arial"/>
                <a:cs typeface="Arial"/>
              </a:rPr>
              <a:t>Dashboard web · API dữ liệu · Edge AI · Cảnh báo vận hành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F8DC82-E7E2-4B61-BE6B-F42BE66C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295400"/>
            <a:ext cx="272415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D2947"/>
          </a:solidFill>
          <a:ln xmlns:a="http://schemas.openxmlformats.org/drawingml/2006/main" w="9525">
            <a:solidFill>
              <a:srgbClr val="27577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DỮ LIỆU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48A3C-1BE2-48E7-9F66-2DE2542C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43200"/>
            <a:ext cx="272415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9525">
            <a:solidFill>
              <a:srgbClr val="2E6A9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SUY LUẬN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5D5804-71DD-4C57-9F6D-E64F987A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91000"/>
            <a:ext cx="272415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69E8"/>
          </a:solidFill>
          <a:ln xmlns:a="http://schemas.openxmlformats.org/drawingml/2006/main" w="9525">
            <a:solidFill>
              <a:srgbClr val="4A8EF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HÀNH ĐỘNG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354CD5-F67F-441C-BC91-0D712F17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81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9FB4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FB4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FB4C8"/>
                </a:solidFill>
                <a:latin typeface="Arial"/>
                <a:ea typeface="Arial"/>
                <a:cs typeface="Arial"/>
              </a:rPr>
              <a:t>Hoàng Minh Ân ·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C2C779-BDE2-4D11-AE3B-B68504A1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B9C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B9C8D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9C8D8"/>
                </a:solidFill>
                <a:latin typeface="Arial"/>
                <a:ea typeface="Arial"/>
                <a:cs typeface="Arial"/>
              </a:rPr>
              <a:t>MotorCare Edge AI · Bộ thuyết trình phần mềm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B3DC7B-D7FF-45A1-8B74-DC086F92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B9C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B9C8D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9C8D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401550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677C2B-3D74-42D2-8DBA-6433010C18FE}"/>
              </a:ext>
            </a:extLst>
          </p:cNvPr>
          <p:cNvCxnSpPr>
            <a:stCxn xmlns:a="http://schemas.openxmlformats.org/drawingml/2006/main" id="22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8677275" y="4133850"/>
            <a:ext cx="419100" cy="247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B9F62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0F954F-443D-4CF5-A67C-EB550A413C61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8677275" y="3009900"/>
            <a:ext cx="419100" cy="247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769E8"/>
            </a:solidFill>
            <a:prstDash val="soli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BAFE30-175E-4248-8EF0-5A52FBFD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Bài toán và phạm vi phần mềm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A36A5-73CB-4C19-B66F-92303F0C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Một luồng số thống nhất thay cho các bước theo dõi rời rạc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96E9B9-9F7A-477C-B652-DB21BC38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572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1769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500" b="1">
                <a:solidFill>
                  <a:srgbClr val="1769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69E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D9A7C-3756-4F5D-AC1D-1320606B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solidFill>
              <a:srgbClr val="DCE4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55DA2-85A5-47B7-A794-93F64F10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Vấn đề cần giải quyết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8F48C8-9B62-42A3-AD87-C0F9EC8C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F20"/>
          </a:solidFill>
          <a:ln xmlns:a="http://schemas.openxmlformats.org/drawingml/2006/main" w="0">
            <a:solidFill>
              <a:srgbClr val="E86F2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94081-9D90-476E-9158-A306F4BD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Dữ liệu phân tán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1B34DD-1CC2-4AE6-A6CC-B5DA013F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71700"/>
            <a:ext cx="2914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162"/>
          </a:bodyPr>
          <a:lstStyle xmlns:a="http://schemas.openxmlformats.org/drawingml/2006/main">
            <a:defPPr algn="l">
              <a:defRPr sz="15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Chỉ số vận hành khó theo dõi liên tục và khó đối chiếu theo thời gian.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14F88-B606-47E2-827C-282BA35F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3F3F"/>
          </a:solidFill>
          <a:ln xmlns:a="http://schemas.openxmlformats.org/drawingml/2006/main" w="0">
            <a:solidFill>
              <a:srgbClr val="D93F3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0F31B6-F00B-4C0D-85E8-7E3ED2FA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Phản ứng chậm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4C04DA-9F72-4E1C-9190-34471164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28950"/>
            <a:ext cx="2914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447"/>
          </a:bodyPr>
          <a:lstStyle xmlns:a="http://schemas.openxmlformats.org/drawingml/2006/main">
            <a:defPPr algn="l">
              <a:defRPr sz="15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Cảnh báo thủ công thường xuất hiện sau khi bất thường đã kéo dài.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CC3864-AC92-4EEE-968E-33FECF33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57D9"/>
          </a:solidFill>
          <a:ln xmlns:a="http://schemas.openxmlformats.org/drawingml/2006/main" w="0">
            <a:solidFill>
              <a:srgbClr val="7357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6E78AE-0E50-486C-A9CB-7F83F0AC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Thiết lập phức tạp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9EC71F-0A5F-43B4-8B89-F2EC5BFC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86200"/>
            <a:ext cx="2914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Người dùng phải tự cấu hình endpoint, mã thiết bị và kết nối.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B70D95-3CAF-4BED-ADC6-2E2C6753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8"/>
          </a:solidFill>
          <a:ln xmlns:a="http://schemas.openxmlformats.org/drawingml/2006/main" w="0">
            <a:solidFill>
              <a:srgbClr val="1769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89A563-2810-4C6F-94DA-DCC38698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4345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Chia sẻ hạn chế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991300-3361-49DE-B2D0-A9980368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43450"/>
            <a:ext cx="2914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152"/>
          </a:bodyPr>
          <a:lstStyle xmlns:a="http://schemas.openxmlformats.org/drawingml/2006/main">
            <a:defPPr algn="l">
              <a:defRPr sz="15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Khách hàng cần xem trạng thái mà không nên có quyền điều khiển.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9DF498-6D8E-4C8A-A591-394B81CC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192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Phạm vi MotorCare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3D5EA8-FDD4-4024-A0D9-11E297A6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33600"/>
            <a:ext cx="42862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9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8E827E-A1C6-4720-A3EF-E2256826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66950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Thu nhận và chuẩn hóa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72BFFA-8EE6-44D6-9424-9EF4B62F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09850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Nhận gói đo, xác thực nguồn gửi và lưu lịch sử.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E0DEC4-EAC4-4A44-9E00-5406B2A1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57550"/>
            <a:ext cx="42862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357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4004DF-314E-45C9-A840-49F6C6D9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90900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Phân tích tại biên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4AF54C-6BDA-4300-93AD-93228FF4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33800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Trích xuất đặc trưng và suy luận ba nhóm rủi ro.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FCC63C-0347-4F74-812A-C9C825AD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81500"/>
            <a:ext cx="42862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9F6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229FC0-C09D-43A2-B004-9E502735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14850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Giám sát và phản hồi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EB04CD-7F7C-4174-A9ED-10C5C736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57750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479"/>
          </a:bodyPr>
          <a:lstStyle xmlns:a="http://schemas.openxmlformats.org/drawingml/2006/main">
            <a:defPPr algn="l"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Dashboard trực tiếp, cảnh báo, hiệu chuẩn và xuất dữ liệu.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B9CD14-3BFD-4E63-A758-B0D92F14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619750"/>
            <a:ext cx="1733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FD6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1769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769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69E8"/>
                </a:solidFill>
                <a:latin typeface="Arial"/>
                <a:ea typeface="Arial"/>
                <a:cs typeface="Arial"/>
              </a:rPr>
              <a:t>CHỈ PHẦN MỀM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75F181-1125-4F63-A7B9-86F9E926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8FA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8FA0B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FA0B3"/>
                </a:solidFill>
                <a:latin typeface="Arial"/>
                <a:ea typeface="Arial"/>
                <a:cs typeface="Arial"/>
              </a:rPr>
              <a:t>MotorCare Edge AI · Bộ thuyết trình phần mềm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1F126C-B6DA-4DAD-AEF1-168F9912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8FA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8FA0B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FA0B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183818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6FD9D4-36DF-42FE-AA45-C927A21A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Hành trình sử dụng phần mềm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040750-D8BA-44CF-AAF3-2C34B85C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Từ tài khoản mới đến giám sát trực tiếp trong năm bước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B327D0-2B29-4F66-9017-F34C1A42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572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1769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500" b="1">
                <a:solidFill>
                  <a:srgbClr val="1769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69E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AE67C6-69C1-4E5E-81A1-BB14A7DF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solidFill>
              <a:srgbClr val="DCE4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DEF3F-AF18-455E-95E5-93D07A20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09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8"/>
          </a:solidFill>
          <a:ln xmlns:a="http://schemas.openxmlformats.org/drawingml/2006/main" w="0">
            <a:solidFill>
              <a:srgbClr val="1769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5B657-3279-4322-BBC1-BDF91063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33575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9B810D-7BDE-4E20-8486-BAA6A2A6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1336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solidFill>
              <a:srgbClr val="DCE4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4562C5-7EE3-40D0-B67D-B3EBE9F9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Tạo tài khoản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E49EB9-CFFC-49B4-B22C-76BC4321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2057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Đăng ký, đăng nhập và quản lý phiên làm việc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3E9D28-A454-4B27-B647-F7DDAD77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09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57D9"/>
          </a:solidFill>
          <a:ln xmlns:a="http://schemas.openxmlformats.org/drawingml/2006/main" w="0">
            <a:solidFill>
              <a:srgbClr val="7357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798B25-C88A-462F-BDB7-EAF1D67B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33575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14A3BF-0C26-4075-B79E-C8A80F95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336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solidFill>
              <a:srgbClr val="DCE4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136D0E-0722-418C-B423-069EB5A4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8130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Khai báo motor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94C9D3-7993-4D15-9BE7-C08A22D9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95650"/>
            <a:ext cx="2057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Lưu hồ sơ, định mức, vị trí và trạng thái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E927E1-F286-4EC4-8CCD-EB4029B0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09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F20"/>
          </a:solidFill>
          <a:ln xmlns:a="http://schemas.openxmlformats.org/drawingml/2006/main" w="0">
            <a:solidFill>
              <a:srgbClr val="E86F2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21B046-829C-4E2C-95D0-EBE8E772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33575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038BCB-1B42-4865-8485-11C98205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336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solidFill>
              <a:srgbClr val="DCE4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C56169-7004-4EDD-8464-508A72EA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8130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Tạo gói firmware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E5282F-A2EF-413D-A73A-AF54C1FE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95650"/>
            <a:ext cx="2057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Nhúng URL, mã thiết bị, token và Wi-Fi vào project ZIP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94EF0B-6588-4B9C-8061-5FC30694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9F62"/>
          </a:solidFill>
          <a:ln xmlns:a="http://schemas.openxmlformats.org/drawingml/2006/main" w="0">
            <a:solidFill>
              <a:srgbClr val="0B9F6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056AE9-2756-412A-BBD2-1924659F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33575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DA143B-D9C7-46B2-9B8C-B80C63BA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336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solidFill>
              <a:srgbClr val="DCE4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06559E-32C0-4EB8-8F9D-CA52CA19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8130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Theo dõi trực tiếp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C97D21-3D23-48F4-A048-5ED27D17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95650"/>
            <a:ext cx="2057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Biểu đồ cảm biến, sức khỏe tổng thể và kết quả AI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98DE71-FE2B-4F01-87CD-308F5DDE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809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3F3F"/>
          </a:solidFill>
          <a:ln xmlns:a="http://schemas.openxmlformats.org/drawingml/2006/main" w="0">
            <a:solidFill>
              <a:srgbClr val="D93F3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0498F5-B744-4EFB-AF7E-7F96FE3E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33575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42DC47-AE39-405C-BE48-499AEB91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8130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Xử lý và chia sẻ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E499D9-4E6B-4CEA-A434-F52A974E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95650"/>
            <a:ext cx="2057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Xác nhận cảnh báo, xuất dữ liệu và tạo link chỉ đọc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7D92A0-B34A-41B8-BA38-8564CC20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10058400" cy="895350"/>
          </a:xfrm>
          <a:prstGeom xmlns:a="http://schemas.openxmlformats.org/drawingml/2006/main" prst="roundRect">
            <a:avLst>
              <a:gd name="adj" fmla="val 2127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8DC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7BC6F0-16CB-4AFD-AB4E-C4A6374E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0540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9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69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69E8"/>
                </a:solidFill>
                <a:latin typeface="Arial"/>
                <a:ea typeface="Arial"/>
                <a:cs typeface="Arial"/>
              </a:rPr>
              <a:t>Điểm khác biệt phần mềm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522D33-58A9-4086-BC95-BC33DB6A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482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Gói firmware được cấu hình tự động, link khách hàng được tạo cùng quy trình và dữ liệu trực tiếp quay về đúng tài khoản sở hữu.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605399-1A64-46E9-A80C-1C187476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8FA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8FA0B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FA0B3"/>
                </a:solidFill>
                <a:latin typeface="Arial"/>
                <a:ea typeface="Arial"/>
                <a:cs typeface="Arial"/>
              </a:rPr>
              <a:t>MotorCare Edge AI · Bộ thuyết trình phần mềm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9A0D9D-D794-408F-ADAD-681730FB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8FA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8FA0B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FA0B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589494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79C2AE-519E-4583-8C46-C49EFCA582D4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9239250" y="3733800"/>
            <a:ext cx="933450" cy="952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E86F20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88C734-FA4F-4E80-8D9E-0EFF485DB69C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8172450" y="3429000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9F62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0A23F7-6F3E-44FB-9F3F-FBBA7585D425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6172200" y="2733675"/>
            <a:ext cx="933450" cy="8191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769E8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01B6DA-38CF-41A7-B183-DD265BA5EEEF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2743200" y="3552825"/>
            <a:ext cx="1047750" cy="1133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769E8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7F2ABC-2467-456B-BDFF-6BCE587528B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743200" y="2733675"/>
            <a:ext cx="1047750" cy="8191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357D9"/>
            </a:solidFill>
            <a:prstDash val="solid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CE6723-47C3-4391-A352-75084DCA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Kiến trúc phần mềm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57074F-90F4-4994-8743-9D7159A4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Bốn lớp chính với bảo mật và giám sát xuyên suốt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BE839-C80B-4558-9324-5C0215DA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572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1769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500" b="1">
                <a:solidFill>
                  <a:srgbClr val="1769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69E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7F9A38-1205-491D-85FB-4AE69036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solidFill>
              <a:srgbClr val="DCE4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9C2DAE-5346-4C2C-8AFA-F2241F64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13360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0EBFF"/>
          </a:solidFill>
          <a:ln xmlns:a="http://schemas.openxmlformats.org/drawingml/2006/main" w="9525">
            <a:solidFill>
              <a:srgbClr val="7357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F5248-2947-49D7-8B12-4F4C25D2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Firmware Edge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E911A-842E-4CA9-91DE-CDA6236C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1790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Lấy mẫu · đặc trưng 1 giây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Suy luận MLP · gửi HTTPS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64ECA-5323-4D91-8576-4C35F714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21336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769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F8D4ED-88D9-4D2D-81E3-FA5094A3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Web client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2B12F6-78C5-41EC-BBF3-09D58E95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1790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Dashboard · motor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Cảnh báo · dữ liệu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3F01F9-33FB-4722-B0AE-E5DDE8EF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47950"/>
            <a:ext cx="2381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9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563FF5-66F4-45E7-B019-A02BEE9F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7813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Express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7F2C79-6D22-4137-9B29-5096ED8B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124200"/>
            <a:ext cx="20383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Xác thực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Kiểm tra dữ liệu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Điều phối nghiệp vụ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Đóng gói firmware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8F46D8-44ED-45E7-9CA3-576EE263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38350"/>
            <a:ext cx="213360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9525">
            <a:solidFill>
              <a:srgbClr val="0B9F6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8AEE8C-EA2F-4FE1-90CF-E4796783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7170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Service layer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A93DDE-5E6A-4974-ADD5-B23FF101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14600"/>
            <a:ext cx="1790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Motor · cảm biến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Cảnh báo · hiệu chuẩn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25D453-55C5-4D04-BECE-A67F2E6E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95750"/>
            <a:ext cx="21336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9F6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F35612-6F69-4192-AF19-845A940A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22910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Repository 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47375A-4A0F-4D80-AA53-569CB056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572000"/>
            <a:ext cx="1790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Câu lệnh dữ liệu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Phân quyền theo owner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D15029-A309-4395-87E6-FFC5688B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09900"/>
            <a:ext cx="1409700" cy="14478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0E6"/>
          </a:solidFill>
          <a:ln xmlns:a="http://schemas.openxmlformats.org/drawingml/2006/main" w="9525">
            <a:solidFill>
              <a:srgbClr val="E86F2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94ED74-239E-4E29-9ABE-CC7877A7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143250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Dữ liệu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CAAAE7-1E30-4DEC-AE21-BE9BDB4E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486150"/>
            <a:ext cx="1066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727"/>
          </a:bodyPr>
          <a:lstStyle xmlns:a="http://schemas.openxmlformats.org/drawingml/2006/main">
            <a:defPPr algn="l"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SQLite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local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Turso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production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F0C032-9A24-4C27-8AC1-A498A180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543550"/>
            <a:ext cx="65722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071E38"/>
          </a:solidFill>
          <a:ln xmlns:a="http://schemas.openxmlformats.org/drawingml/2006/main" w="9525">
            <a:solidFill>
              <a:srgbClr val="071E3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599668-71C9-45C6-9966-2D846917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6769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Bảo mật xuyên suốt: session · device token · CSP · rate limit · audit log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2EA001-02B4-4708-AA39-1A2C8CE7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8FA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8FA0B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FA0B3"/>
                </a:solidFill>
                <a:latin typeface="Arial"/>
                <a:ea typeface="Arial"/>
                <a:cs typeface="Arial"/>
              </a:rPr>
              <a:t>MotorCare Edge AI · Bộ thuyết trình phần mềm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516617-6FAF-493C-A2E1-4AE9CE24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8FA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8FA0B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FA0B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986008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4270AC1-C647-4C5A-94C4-39815880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Dashboard vận hành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52023-D3D8-4646-9E5A-2B8859DC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Giao diện hợp nhất dữ liệu thời gian thực, tình trạng và chẩn đoán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13A3AB-5AC5-4193-BB87-7F956236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572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1769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500" b="1">
                <a:solidFill>
                  <a:srgbClr val="1769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69E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3957B2-867D-4D53-9608-8DEE011C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solidFill>
              <a:srgbClr val="DCE4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3FA4DA-E4D6-47BB-BECA-82304554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7239000" cy="428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4DB584-2935-4992-8B8E-D051B46A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257300" cy="42862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71E38"/>
          </a:solidFill>
          <a:ln xmlns:a="http://schemas.openxmlformats.org/drawingml/2006/main" w="9525">
            <a:solidFill>
              <a:srgbClr val="071E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037C6C-1411-43DE-A536-75026DBA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87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9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MOTOR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E1870C-EE48-44D0-AC1E-474B7DE9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6C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6C8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6C8FF"/>
                </a:solidFill>
                <a:latin typeface="Arial"/>
                <a:ea typeface="Arial"/>
                <a:cs typeface="Arial"/>
              </a:rPr>
              <a:t>Tổng quan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44E2D9-2283-4FA5-AFD9-44A6B2C8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9C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B9C8D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9C8D8"/>
                </a:solidFill>
                <a:latin typeface="Arial"/>
                <a:ea typeface="Arial"/>
                <a:cs typeface="Arial"/>
              </a:rPr>
              <a:t>Thiết bị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9B06C-7DBD-4D05-82AF-947D1A26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9C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B9C8D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9C8D8"/>
                </a:solidFill>
                <a:latin typeface="Arial"/>
                <a:ea typeface="Arial"/>
                <a:cs typeface="Arial"/>
              </a:rPr>
              <a:t>Hiệu chuẩn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CBD866-F797-47BC-84A8-215E3555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9C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B9C8D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9C8D8"/>
                </a:solidFill>
                <a:latin typeface="Arial"/>
                <a:ea typeface="Arial"/>
                <a:cs typeface="Arial"/>
              </a:rPr>
              <a:t>Cảnh báo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0CD43C-4317-4267-8A20-68BAAE96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9C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B9C8D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9C8D8"/>
                </a:solidFill>
                <a:latin typeface="Arial"/>
                <a:ea typeface="Arial"/>
                <a:cs typeface="Arial"/>
              </a:rPr>
              <a:t>Dữ liệu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AC80BB-314F-460C-87A1-EAEF4B85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7716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Tổng quan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85B0B2-F488-428D-8FC7-0ADD4576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9070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9525">
            <a:solidFill>
              <a:srgbClr val="BDE7D2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0B9F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B9F6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9F62"/>
                </a:solidFill>
                <a:latin typeface="Arial"/>
                <a:ea typeface="Arial"/>
                <a:cs typeface="Arial"/>
              </a:rPr>
              <a:t>TRỰC TUYẾN</a:t>
            </a:r>
          </a:p>
        </p:txBody>
      </p:sp>
      <p:graphicFrame>
        <p:nvGraphicFramePr>
          <p:cNvPr id="15" name="Chart">
            <a:extLst xmlns:a="http://schemas.openxmlformats.org/drawingml/2006/main">
              <a:ext uri="{FF2B5EF4-FFF2-40B4-BE49-F238E27FC236}">
                <a16:creationId xmlns:a16="http://schemas.microsoft.com/office/drawing/2014/main" id="{47E15837-5E71-4DCF-A5DF-DA7937BF96B4}"/>
              </a:ext>
            </a:extLst>
          </p:cNvPr>
          <p:cNvGraphicFramePr/>
          <p:nvPr/>
        </p:nvGraphicFramePr>
        <p:xfrm>
          <a:off xmlns:a="http://schemas.openxmlformats.org/drawingml/2006/main" x="2114550" y="2400300"/>
          <a:ext xmlns:a="http://schemas.openxmlformats.org/drawingml/2006/main" cx="3333750" cy="1676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d5478d395364e73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F35954-AF13-4333-9436-E7D85699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336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Độ rung RMS · dữ liệu demo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712C7B-9A40-420B-826C-63312310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400300"/>
            <a:ext cx="1866900" cy="1676400"/>
          </a:xfrm>
          <a:prstGeom xmlns:a="http://schemas.openxmlformats.org/drawingml/2006/main" prst="roundRect">
            <a:avLst>
              <a:gd name="adj" fmla="val 7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031809-B82D-497B-8958-892DB97F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908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4778B"/>
                </a:solidFill>
                <a:latin typeface="Arial"/>
                <a:ea typeface="Arial"/>
                <a:cs typeface="Arial"/>
              </a:rPr>
              <a:t>SỨC KHỎE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594A89-1211-47F2-B325-B7C27A52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93370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3300" b="1">
                <a:solidFill>
                  <a:srgbClr val="0B9F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3300" b="1">
                <a:solidFill>
                  <a:srgbClr val="0B9F6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B9F62"/>
                </a:solidFill>
                <a:latin typeface="Arial"/>
                <a:ea typeface="Arial"/>
                <a:cs typeface="Arial"/>
              </a:rPr>
              <a:t>92%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DC8A35-F9C9-4F4F-9EB7-EE2F616D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5433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Tốt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FE7C1A-D96C-463B-9C43-184186DB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43400"/>
            <a:ext cx="16002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9F4842-06B5-4D42-BF2A-91E5D630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5148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769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769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9E8"/>
                </a:solidFill>
                <a:latin typeface="Arial"/>
                <a:ea typeface="Arial"/>
                <a:cs typeface="Arial"/>
              </a:rPr>
              <a:t>2,7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40B075-D6F3-4631-9416-14411A52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6672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922"/>
          </a:bodyPr>
          <a:lstStyle xmlns:a="http://schemas.openxmlformats.org/drawingml/2006/main">
            <a:defPPr algn="r">
              <a:defRPr sz="12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mm/s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874C58-1012-46A6-93B2-91125C07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105400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8"/>
          </a:solidFill>
          <a:ln xmlns:a="http://schemas.openxmlformats.org/drawingml/2006/main" w="0">
            <a:solidFill>
              <a:srgbClr val="1769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06F15E-7C47-4982-A03E-D13A7287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43400"/>
            <a:ext cx="16002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2F2281-7E3A-4778-9F24-2C94E60E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0B9F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0B9F6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9F62"/>
                </a:solidFill>
                <a:latin typeface="Arial"/>
                <a:ea typeface="Arial"/>
                <a:cs typeface="Arial"/>
              </a:rPr>
              <a:t>4,45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A2CEB9-67A2-4BAF-BF93-93935D7C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6672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E7E8E9-AD9A-4029-B5BD-7EBC4C61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05400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F62"/>
          </a:solidFill>
          <a:ln xmlns:a="http://schemas.openxmlformats.org/drawingml/2006/main" w="0">
            <a:solidFill>
              <a:srgbClr val="0B9F6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B92446-D16A-4A2E-A3E0-B7975784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343400"/>
            <a:ext cx="16002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A3E844-AE15-4DD4-9D66-6BB29512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5148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E86F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E86F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86F20"/>
                </a:solidFill>
                <a:latin typeface="Arial"/>
                <a:ea typeface="Arial"/>
                <a:cs typeface="Arial"/>
              </a:rPr>
              <a:t>63,3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BE8233-6875-452A-9CDD-2EBEA706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672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°C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6CD316-8027-4007-8C91-6E26A8E3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105400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20"/>
          </a:solidFill>
          <a:ln xmlns:a="http://schemas.openxmlformats.org/drawingml/2006/main" w="0">
            <a:solidFill>
              <a:srgbClr val="E86F2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785B21-7F72-442F-A998-5B8BF748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57350"/>
            <a:ext cx="3181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042"/>
          </a:bodyPr>
          <a:lstStyle xmlns:a="http://schemas.openxmlformats.org/drawingml/2006/main">
            <a:defPPr algn="l">
              <a:defRPr sz="18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Những gì người vận hành nhìn thấy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A56D77-03AE-4E8C-9EE1-2BFF3633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43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8"/>
          </a:solidFill>
          <a:ln xmlns:a="http://schemas.openxmlformats.org/drawingml/2006/main" w="0">
            <a:solidFill>
              <a:srgbClr val="1769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401A41-465F-4811-817E-02B92E4E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6695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Dòng dữ liệu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6B9798-86A5-4A46-8B04-ADDC0F54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66950"/>
            <a:ext cx="114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4074"/>
          </a:bodyPr>
          <a:lstStyle xmlns:a="http://schemas.openxmlformats.org/drawingml/2006/main">
            <a:defPPr algn="l">
              <a:defRPr sz="15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Biểu đồ và chỉ số mới nhất theo motor đang chọn.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FF5E1B-FD6B-43A2-80E5-B1FF0FC4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76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9F62"/>
          </a:solidFill>
          <a:ln xmlns:a="http://schemas.openxmlformats.org/drawingml/2006/main" w="0">
            <a:solidFill>
              <a:srgbClr val="0B9F6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D15500-B5F6-4A26-92F5-6B25ABF4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004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Sức khỏe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F2EFB4-58FE-4061-AF41-FE5412AC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00400"/>
            <a:ext cx="114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4517"/>
          </a:bodyPr>
          <a:lstStyle xmlns:a="http://schemas.openxmlformats.org/drawingml/2006/main">
            <a:defPPr algn="l">
              <a:defRPr sz="15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Điểm tổng thể và trạng thái kết nối cập nhật theo dữ liệu.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5FC433-9E20-4BF8-9F41-89972F86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1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57D9"/>
          </a:solidFill>
          <a:ln xmlns:a="http://schemas.openxmlformats.org/drawingml/2006/main" w="0">
            <a:solidFill>
              <a:srgbClr val="7357D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BBA2FE-3B7B-441D-81A5-A4A96BA2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3385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Chẩn đoán AI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A609D17-7816-44F2-ABDE-BD0BBE07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133850"/>
            <a:ext cx="114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4074"/>
          </a:bodyPr>
          <a:lstStyle xmlns:a="http://schemas.openxmlformats.org/drawingml/2006/main">
            <a:defPPr algn="l">
              <a:defRPr sz="15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Xác suất kẹt tải, rung bất thường và sụt áp.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75BF486-B30F-4F75-833D-EC643894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143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3F3F"/>
          </a:solidFill>
          <a:ln xmlns:a="http://schemas.openxmlformats.org/drawingml/2006/main" w="0">
            <a:solidFill>
              <a:srgbClr val="D93F3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AD28502-869A-4BBF-B755-31A81C51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673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Ưu tiên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0161DFC-34C3-4460-9E70-C6261BF2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067300"/>
            <a:ext cx="114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4074"/>
          </a:bodyPr>
          <a:lstStyle xmlns:a="http://schemas.openxmlformats.org/drawingml/2006/main">
            <a:defPPr algn="l">
              <a:defRPr sz="15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Danh sách cảnh báo gần nhất để xử lý ngay.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FBB2A37-E0DE-4F98-893C-7EE6599B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8FA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8FA0B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FA0B3"/>
                </a:solidFill>
                <a:latin typeface="Arial"/>
                <a:ea typeface="Arial"/>
                <a:cs typeface="Arial"/>
              </a:rPr>
              <a:t>MotorCare Edge AI · Bộ thuyết trình phần mềm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3914A8F-A117-4CBD-9413-B4E45894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8FA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8FA0B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FA0B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013720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A217C1-1597-4708-8208-559677B14C6C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9810750" y="36861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86F20"/>
            </a:solidFill>
            <a:prstDash val="solid"/>
            <a:tailEnd type="triangle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EB7F40-A351-4B03-9FAC-3A098C5FBC29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7410450" y="36861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357D9"/>
            </a:solidFill>
            <a:prstDash val="solid"/>
            <a:tailEnd type="triangle" w="sm" len="sm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C09FBD-060D-48E6-AE8C-B6AFC52A795B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010150" y="36861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9F62"/>
            </a:solidFill>
            <a:prstDash val="solid"/>
            <a:tailEnd type="triangle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FBB8C4-FFD3-4C8C-8DB3-478EE25F955E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609850" y="36861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9E8"/>
            </a:solidFill>
            <a:prstDash val="solid"/>
            <a:tailEnd type="triangle" w="sm" len="sm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7C1189-038E-48F2-87B6-B4F20CA0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Pipeline Edge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BA266-CCD8-42C4-89B3-2BEDC355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Từ dữ liệu đo thô đến ba xác suất rủi ro chạy trong firmware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E1BF53-AA75-4CF5-8617-0F62A149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572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1769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500" b="1">
                <a:solidFill>
                  <a:srgbClr val="1769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69E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33D78-2D04-467D-B213-05720EF3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solidFill>
              <a:srgbClr val="DCE4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CB0BAF-E18F-4145-985F-3C9DDF76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769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769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69E8"/>
                </a:solidFill>
                <a:latin typeface="Arial"/>
                <a:ea typeface="Arial"/>
                <a:cs typeface="Arial"/>
              </a:rPr>
              <a:t>326.952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DB367-385E-4954-8A41-33207551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dòng đầu vào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1A7968-B613-4F40-84F3-55852DFC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573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0B9F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0B9F6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9F62"/>
                </a:solidFill>
                <a:latin typeface="Arial"/>
                <a:ea typeface="Arial"/>
                <a:cs typeface="Arial"/>
              </a:rPr>
              <a:t>326.541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6FA3CB-3B10-467C-B5F9-E0D95202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09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mẫu sạch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E7848C-3976-4508-823A-0E58E530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6573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E86F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E86F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E86F20"/>
                </a:solidFill>
                <a:latin typeface="Arial"/>
                <a:ea typeface="Arial"/>
                <a:cs typeface="Arial"/>
              </a:rPr>
              <a:t>1.666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693335-C009-431C-8481-B28E9BA6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09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cửa sổ 1 giây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36F859-6B61-4373-9382-F29CA6F5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6573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7357D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7357D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7357D9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01DEEB-5BD2-4806-94E8-58758459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09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đặc trưng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688547-39CD-4AD9-B2B5-EA818B84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0975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18 biến thể điều kiện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ED675B-2D43-4B81-9FF9-41B3ADD9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2000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9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302871-AAA7-40DF-AB58-6459BF94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Làm sạch dữ liệu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63EB3C-1DA9-4996-83BA-5137AB7B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165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Loại hàng lỗi và mẫu gia tốc đáng ngờ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6FAAB1-FFD0-48DE-AE77-13E0C9B2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67050"/>
            <a:ext cx="2000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9F6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E5386B-5EF0-4A36-A003-71AC3A79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004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050"/>
          </a:bodyPr>
          <a:lstStyle xmlns:a="http://schemas.openxmlformats.org/drawingml/2006/main">
            <a:defPPr algn="l">
              <a:defRPr sz="15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Trích xuất đặc trưng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F07736-2525-4827-B417-4B078ECF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543300"/>
            <a:ext cx="165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Rung, chuẩn gia tốc, điện áp và dòng điện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0E0D2D-93E9-40E8-84C8-AE1C01BE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67050"/>
            <a:ext cx="2000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357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83BD3C-A93A-4203-A306-BB46C24B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004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Huấn luyện MLP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DB2D30-A18E-4D69-AD4F-5245AD6B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543300"/>
            <a:ext cx="165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Chuẩn hóa dữ liệu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Mạng 15 → 12 → 8 →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184B64-AE36-4910-820C-C38F2E0C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67050"/>
            <a:ext cx="2000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6F2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091681-3EE4-460B-AECD-796E4311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004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279"/>
          </a:bodyPr>
          <a:lstStyle xmlns:a="http://schemas.openxmlformats.org/drawingml/2006/main">
            <a:defPPr algn="l">
              <a:defRPr sz="15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Xuất trọng số C++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E09E5C-96FE-4E75-BFFA-12D57620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43300"/>
            <a:ext cx="165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Sinh header tái lập cho firmware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DCA46C-0EAC-4740-98F7-E9E6B51F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067050"/>
            <a:ext cx="13716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071E38"/>
          </a:solidFill>
          <a:ln xmlns:a="http://schemas.openxmlformats.org/drawingml/2006/main" w="9525">
            <a:solidFill>
              <a:srgbClr val="36C8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AB76E8-9118-4863-8169-EB94C86E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194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Suy luận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A2ACF8-B290-4728-9BCE-EA2D3385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600450"/>
            <a:ext cx="1066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595"/>
          </a:bodyPr>
          <a:lstStyle xmlns:a="http://schemas.openxmlformats.org/drawingml/2006/main">
            <a:defPPr algn="l">
              <a:defRPr sz="1275" b="0">
                <a:solidFill>
                  <a:srgbClr val="B9C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9C8D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9C8D8"/>
                </a:solidFill>
                <a:latin typeface="Arial"/>
                <a:ea typeface="Arial"/>
                <a:cs typeface="Arial"/>
              </a:rPr>
              <a:t>jam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9C8D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9C8D8"/>
                </a:solidFill>
                <a:latin typeface="Arial"/>
                <a:ea typeface="Arial"/>
                <a:cs typeface="Arial"/>
              </a:rPr>
              <a:t>vibration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B9C8D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9C8D8"/>
                </a:solidFill>
                <a:latin typeface="Arial"/>
                <a:ea typeface="Arial"/>
                <a:cs typeface="Arial"/>
              </a:rPr>
              <a:t>sag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872217-D8AA-468E-87C7-4CBDF182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14900"/>
            <a:ext cx="9029700" cy="8001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0EBFF"/>
          </a:solidFill>
          <a:ln xmlns:a="http://schemas.openxmlformats.org/drawingml/2006/main" w="9525">
            <a:solidFill>
              <a:srgbClr val="D8CDF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F01FB2-00C3-41A5-81AA-8B231EA0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124450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7357D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7357D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357D9"/>
                </a:solidFill>
                <a:latin typeface="Arial"/>
                <a:ea typeface="Arial"/>
                <a:cs typeface="Arial"/>
              </a:rPr>
              <a:t>Chống rò rỉ dữ liệu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18C5FF-1F78-44C3-8CD7-56716AF0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57775"/>
            <a:ext cx="596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Train và test được chia theo session_id, không chia ngẫu nhiên các cửa sổ của cùng một buổi đo.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7E043E-AB97-4EA7-BDB0-AE8C3042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8FA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8FA0B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FA0B3"/>
                </a:solidFill>
                <a:latin typeface="Arial"/>
                <a:ea typeface="Arial"/>
                <a:cs typeface="Arial"/>
              </a:rPr>
              <a:t>MotorCare Edge AI · Bộ thuyết trình phần mềm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D31E3B-4433-47A3-B97A-C050C0B3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8FA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8FA0B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FA0B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335066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D83699-EE18-4987-9F16-2FE031258A09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600950" y="3629025"/>
            <a:ext cx="971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3F3F"/>
            </a:solidFill>
            <a:prstDash val="solid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225CDC-C548-4D67-BA18-C4A01364111C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3619500" y="3629025"/>
            <a:ext cx="971550" cy="10763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357D9"/>
            </a:solidFill>
            <a:prstDash val="solid"/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2CBC77-598C-47AA-BD7D-37E1C0BBA9D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619500" y="2552700"/>
            <a:ext cx="971550" cy="10763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769E8"/>
            </a:solidFill>
            <a:prstDash val="solid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C47A9B-8A76-4B17-B510-FFE0612A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Cơ chế cảnh báo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A76EE-C092-4264-A959-12C6603B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Hai nguồn phát hiện cùng hội tụ vào một danh sách ưu tiên xử lý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704704-9DE6-44CC-9554-431BB0FE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572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1769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500" b="1">
                <a:solidFill>
                  <a:srgbClr val="1769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69E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8F1F6-B1E3-4A67-98EC-0315251C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solidFill>
              <a:srgbClr val="DCE4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5505CA-63E9-43BA-8A1F-A9AADCC5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00990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769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4481D9-3061-461D-84D6-C67AECB1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Ngưỡng hiệu chuẩn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BEB073-10F9-4378-B17A-E8EA027E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2667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So sánh rung, dòng điện, nhiệt độ và độ ồn với ngưỡng mới nhất của từng motor.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CB66A1-FC82-42E2-8464-001606A1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300990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0EBFF"/>
          </a:solidFill>
          <a:ln xmlns:a="http://schemas.openxmlformats.org/drawingml/2006/main" w="9525">
            <a:solidFill>
              <a:srgbClr val="7357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056999-C770-4926-A857-F53AB232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Xác suất Edge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60433F-D5AB-4324-89A5-09B0C18B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2667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Nhận xác suất kẹt tải, rung bất thường và sụt áp từ firmware.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99FE4F-C9C5-4F7E-82F1-385D4A9F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24150"/>
            <a:ext cx="30099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3F3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80257-EE4B-4A21-A37B-0A7EDDFA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Alert service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6F0C01-E7BE-4062-B526-A5DCBEFC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00400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Chống cảnh báo trùng gần thời điểm hiện tại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Gắn nguồn system hoặc ai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Lưu độ tin cậy khi có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452CC0-D643-4A63-9DC3-E4D471D4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30099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9525">
            <a:solidFill>
              <a:srgbClr val="0B9F6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FD49E3-46AB-42E6-B113-6F1F2316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57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Trải nghiệm xử lý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FBF605-2677-4CC7-AAD0-B0FFBB67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00400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Open · Acknowledged · Resolved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Lọc theo mức độ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Hiển thị trên dashboard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0D0203-E1EE-479F-AD64-49C5F431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72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Thang mức độ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9239AB-801C-43D8-9D06-CAD78390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410200"/>
            <a:ext cx="180975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FFF6D8"/>
          </a:solidFill>
          <a:ln xmlns:a="http://schemas.openxmlformats.org/drawingml/2006/main" w="9525">
            <a:solidFill>
              <a:srgbClr val="A56B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C40012-E277-49C5-8256-46987EFF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534025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56B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A56B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56B00"/>
                </a:solidFill>
                <a:latin typeface="Arial"/>
                <a:ea typeface="Arial"/>
                <a:cs typeface="Arial"/>
              </a:rPr>
              <a:t>≥ 50%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AFF739-35DD-40F1-9D9E-A451AC1B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5435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Medium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28FBBC-2C8A-4090-9689-907FF475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410200"/>
            <a:ext cx="180975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FFF0E6"/>
          </a:solidFill>
          <a:ln xmlns:a="http://schemas.openxmlformats.org/drawingml/2006/main" w="9525">
            <a:solidFill>
              <a:srgbClr val="E86F2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428715-50B2-4E6F-A74B-002DCF4E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534025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E86F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86F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86F20"/>
                </a:solidFill>
                <a:latin typeface="Arial"/>
                <a:ea typeface="Arial"/>
                <a:cs typeface="Arial"/>
              </a:rPr>
              <a:t>≥ 70%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8B35EA-CD90-42BA-9D99-A63BB430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5435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7D93E4-6FB3-436B-B9D0-861B5DB2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10200"/>
            <a:ext cx="180975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D93F3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31EDE6-C3E4-4194-AD67-95BB92A2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534025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D93F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D93F3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3F3F"/>
                </a:solidFill>
                <a:latin typeface="Arial"/>
                <a:ea typeface="Arial"/>
                <a:cs typeface="Arial"/>
              </a:rPr>
              <a:t>≥ 85%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F19176-8958-4449-A088-4C5DAF6B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5435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Critical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02C8EF-D4E3-47CB-B8F7-868706AA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8FA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8FA0B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FA0B3"/>
                </a:solidFill>
                <a:latin typeface="Arial"/>
                <a:ea typeface="Arial"/>
                <a:cs typeface="Arial"/>
              </a:rPr>
              <a:t>MotorCare Edge AI · Bộ thuyết trình phần mềm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08F6C4-28B2-4594-A9A9-C29B3EF3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8FA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8FA0B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FA0B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341284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2AF111-BFF1-42F5-8625-38EA0467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API và lớp dữ liệu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A34521-AE83-4B2F-9522-B3B8245D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Backend bao phủ toàn bộ vòng đời người dùng, thiết bị và dữ liệu cảm biến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156A9-A6CB-4607-B083-00E4327D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572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1769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500" b="1">
                <a:solidFill>
                  <a:srgbClr val="1769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69E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862FF-9135-4065-9251-595927AB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solidFill>
              <a:srgbClr val="DCE4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59936B-E12E-40DE-B214-886DA039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1769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1769E8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69E8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F5DA8-1D4F-44DF-8DCC-63CA7768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route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3A490-B508-444A-BD63-C11DA11A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1925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0B9F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0B9F62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0B9F62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4AEE87-E189-49DA-AE6C-77F48075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669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migration dữ liệu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0FBF91-51C0-4120-920D-64659CB3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61925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7357D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7357D9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7357D9"/>
                </a:solidFill>
                <a:latin typeface="Arial"/>
                <a:ea typeface="Arial"/>
                <a:cs typeface="Arial"/>
              </a:rPr>
              <a:t>61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F14BDE-B007-47F4-BB7C-FB8E58D8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66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file JavaScript backend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DEDDAF-1A17-4D3B-B27B-B5255771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0"/>
            <a:ext cx="1657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E38"/>
          </a:solidFill>
          <a:ln xmlns:a="http://schemas.openxmlformats.org/drawingml/2006/main" w="9525">
            <a:solidFill>
              <a:srgbClr val="071E38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Node.js 22+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6AC63F-8BC4-4153-A377-CC4B50CC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solidFill>
              <a:srgbClr val="DCE4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6A892A-567F-43ED-A2BD-B4EB7855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8"/>
          </a:solidFill>
          <a:ln xmlns:a="http://schemas.openxmlformats.org/drawingml/2006/main" w="0">
            <a:solidFill>
              <a:srgbClr val="1769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250D67-8A6D-40EC-A528-BBAF0F69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Xác thực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51989D-12F9-44F6-915B-EF3B43D2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266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đăng ký · đăng nhập · phiên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quên và đổi mật khẩu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F53973-B4C0-40F9-ADE5-4BD4368C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8135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7D9"/>
          </a:solidFill>
          <a:ln xmlns:a="http://schemas.openxmlformats.org/drawingml/2006/main" w="0">
            <a:solidFill>
              <a:srgbClr val="7357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2D2BFF-C0FD-4E4D-8263-EB6BBB6E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29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Motor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AEB0F9-1FAB-4CA4-BC50-3A29261E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86200"/>
            <a:ext cx="2266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CRUD · trạng thái kết nối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link xem · device token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83FC55-F414-48CF-B291-0E3EAECA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8135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F62"/>
          </a:solidFill>
          <a:ln xmlns:a="http://schemas.openxmlformats.org/drawingml/2006/main" w="0">
            <a:solidFill>
              <a:srgbClr val="0B9F6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3EF2B2-6C27-46BE-8AD4-2F3C4879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29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Cảm biến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7E522B-6722-49E8-9A6D-21F5BA63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86200"/>
            <a:ext cx="2266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nhận reading · latest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lọc ngày · export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704460-CEB1-475A-AD20-0BEA9BBB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8135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20"/>
          </a:solidFill>
          <a:ln xmlns:a="http://schemas.openxmlformats.org/drawingml/2006/main" w="0">
            <a:solidFill>
              <a:srgbClr val="E86F2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517EE4-BBE0-4D34-AEFC-D1DDF812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29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Vận hành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6CDD2D-91DD-42A7-96EE-F259457F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86200"/>
            <a:ext cx="2266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dashboard · cảnh báo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hiệu chuẩn · cài đặt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39E62A-DFA0-4080-9E0C-1E711B99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52006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D2816E-C6ED-4D0F-80D3-C10DCAC0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768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69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769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69E8"/>
                </a:solidFill>
                <a:latin typeface="Arial"/>
                <a:ea typeface="Arial"/>
                <a:cs typeface="Arial"/>
              </a:rPr>
              <a:t>LOCAL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546CD3-47CF-424B-A7CE-C68514E1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38750"/>
            <a:ext cx="3771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SQLite tạo tự động và chạy migration khi khởi động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4C79AE-E2D1-446A-BD2F-378F92A3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05400"/>
            <a:ext cx="52006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B4868B-FB4D-48D8-B65B-85D1A0E5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76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B9F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0B9F6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9F62"/>
                </a:solidFill>
                <a:latin typeface="Arial"/>
                <a:ea typeface="Arial"/>
                <a:cs typeface="Arial"/>
              </a:rPr>
              <a:t>PRODUCTION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37E1EB-1D07-4288-81DC-24520FE1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2387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Turso lưu bền vững cho môi trường Vercel serverless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1E98E3-7EAC-4608-9154-18B8BD35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8FA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8FA0B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FA0B3"/>
                </a:solidFill>
                <a:latin typeface="Arial"/>
                <a:ea typeface="Arial"/>
                <a:cs typeface="Arial"/>
              </a:rPr>
              <a:t>MotorCare Edge AI · Bộ thuyết trình phần mềm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BFB4DE-E8AC-45CB-BD0B-853564C4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8FA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8FA0B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FA0B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949474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E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E843B0-DB9D-4414-BB4E-BD842B5A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Bảo mật phần mềm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1F08C-436C-4FC7-8ACB-139575F3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B9C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B9C8D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9C8D8"/>
                </a:solidFill>
                <a:latin typeface="Arial"/>
                <a:ea typeface="Arial"/>
                <a:cs typeface="Arial"/>
              </a:rPr>
              <a:t>Phân tách rõ quyền người dùng, quyền thiết bị và quyền xem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70BB0-2D3E-47C3-AADC-00FA03DB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762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36C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500" b="1">
                <a:solidFill>
                  <a:srgbClr val="36C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6C8F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C2034-7D6E-490F-BD9E-49DF6C5C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763"/>
          </a:solidFill>
          <a:ln xmlns:a="http://schemas.openxmlformats.org/drawingml/2006/main" w="0">
            <a:solidFill>
              <a:srgbClr val="24476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E63702-7ADF-46EF-98BC-23AA36F0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40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8"/>
          </a:solidFill>
          <a:ln xmlns:a="http://schemas.openxmlformats.org/drawingml/2006/main" w="0">
            <a:solidFill>
              <a:srgbClr val="1769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031CF-55A3-4C00-A927-B2AF7D56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254198-12A9-4012-BA0B-D53490D4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DCE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DCEB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CEBFF"/>
                </a:solidFill>
                <a:latin typeface="Arial"/>
                <a:ea typeface="Arial"/>
                <a:cs typeface="Arial"/>
              </a:rPr>
              <a:t>miền tin cậy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B47655-5415-42D9-B0AA-B34BCBFE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1885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DCEB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DCEB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BFF"/>
                </a:solidFill>
                <a:latin typeface="Arial"/>
                <a:ea typeface="Arial"/>
                <a:cs typeface="Arial"/>
              </a:rPr>
              <a:t>Người dùng · Thiết bị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DCEB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BFF"/>
                </a:solidFill>
                <a:latin typeface="Arial"/>
                <a:ea typeface="Arial"/>
                <a:cs typeface="Arial"/>
              </a:rPr>
              <a:t>Khách xem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E5619B-9B12-4300-9B3F-A12B3855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52600"/>
            <a:ext cx="78676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D2947"/>
          </a:solidFill>
          <a:ln xmlns:a="http://schemas.openxmlformats.org/drawingml/2006/main" w="9525">
            <a:solidFill>
              <a:srgbClr val="2447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61DC98-9344-43D4-9513-DC4C75F4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8"/>
          </a:solidFill>
          <a:ln xmlns:a="http://schemas.openxmlformats.org/drawingml/2006/main" w="0">
            <a:solidFill>
              <a:srgbClr val="1769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25E00E-1012-453D-BC34-7DFCAFC8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885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Mật khẩu và phiên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4119D3-8DED-43F2-A364-F685B4E3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66900"/>
            <a:ext cx="4819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9C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B9C8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9C8D8"/>
                </a:solidFill>
                <a:latin typeface="Arial"/>
                <a:ea typeface="Arial"/>
                <a:cs typeface="Arial"/>
              </a:rPr>
              <a:t>Scrypt với salt riêng; token phiên chỉ lưu dạng hash; đổi mật khẩu làm vô hiệu toàn bộ phiên.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AE67F3-D47A-480E-933D-6CEC15C5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19400"/>
            <a:ext cx="78676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D2947"/>
          </a:solidFill>
          <a:ln xmlns:a="http://schemas.openxmlformats.org/drawingml/2006/main" w="9525">
            <a:solidFill>
              <a:srgbClr val="2447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051554-D6BD-41FC-B4A8-21DB4202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19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7D9"/>
          </a:solidFill>
          <a:ln xmlns:a="http://schemas.openxmlformats.org/drawingml/2006/main" w="0">
            <a:solidFill>
              <a:srgbClr val="7357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14EADA-554F-4CC1-A1A1-0CC6C6FC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952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Thiết bị và link xem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066D9A-1152-4BC3-A939-2C24B8B6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33700"/>
            <a:ext cx="4819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9C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B9C8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9C8D8"/>
                </a:solidFill>
                <a:latin typeface="Arial"/>
                <a:ea typeface="Arial"/>
                <a:cs typeface="Arial"/>
              </a:rPr>
              <a:t>Mã ghi dữ liệu và token xem lưu SHA-256; tạo mã mới thu hồi mã cũ.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66F74A-F617-447D-B1C5-42A2E01A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86200"/>
            <a:ext cx="78676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D2947"/>
          </a:solidFill>
          <a:ln xmlns:a="http://schemas.openxmlformats.org/drawingml/2006/main" w="9525">
            <a:solidFill>
              <a:srgbClr val="2447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97FD6C-3DA7-4051-8122-9DC127D1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86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20"/>
          </a:solidFill>
          <a:ln xmlns:a="http://schemas.openxmlformats.org/drawingml/2006/main" w="0">
            <a:solidFill>
              <a:srgbClr val="E86F2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C7E491-F749-40F3-AD67-D0C26E39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0195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Khôi phục tài khoản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E0EBE8-C2B3-4A6B-9781-88916829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00500"/>
            <a:ext cx="4819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9C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B9C8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9C8D8"/>
                </a:solidFill>
                <a:latin typeface="Arial"/>
                <a:ea typeface="Arial"/>
                <a:cs typeface="Arial"/>
              </a:rPr>
              <a:t>OTP sáu số, hết hạn sau 15 phút, tối đa năm lần nhập sai và chỉ dùng một lần.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42962D-CE8D-429F-9589-C88D1A24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53000"/>
            <a:ext cx="78676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D2947"/>
          </a:solidFill>
          <a:ln xmlns:a="http://schemas.openxmlformats.org/drawingml/2006/main" w="9525">
            <a:solidFill>
              <a:srgbClr val="2447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4B174B-E747-4BAB-8F21-D5A067D0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53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F62"/>
          </a:solidFill>
          <a:ln xmlns:a="http://schemas.openxmlformats.org/drawingml/2006/main" w="0">
            <a:solidFill>
              <a:srgbClr val="0B9F6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C03C47-662B-426C-AEE4-706C561E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086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Bảo vệ HTTP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2B1910-0544-4DBE-90EA-FA86E1C2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67300"/>
            <a:ext cx="4819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9C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B9C8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9C8D8"/>
                </a:solidFill>
                <a:latin typeface="Arial"/>
                <a:ea typeface="Arial"/>
                <a:cs typeface="Arial"/>
              </a:rPr>
              <a:t>CSP, X-Frame-Options, no-store cho API, giới hạn payload và request ID để truy vết.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307876-9660-4A60-AF84-4FA2692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B9C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B9C8D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9C8D8"/>
                </a:solidFill>
                <a:latin typeface="Arial"/>
                <a:ea typeface="Arial"/>
                <a:cs typeface="Arial"/>
              </a:rPr>
              <a:t>MotorCare Edge AI · Bộ thuyết trình phần mềm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433705-D129-463F-97A3-57B56EEC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B9C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B9C8D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9C8D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410604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551EEA-778C-49CC-AA8B-AB7EDA3BD188}"/>
              </a:ext>
            </a:extLst>
          </p:cNvPr>
          <p:cNvCxnSpPr>
            <a:stCxn xmlns:a="http://schemas.openxmlformats.org/drawingml/2006/main" id="22" idx="1"/>
            <a:endCxn xmlns:a="http://schemas.openxmlformats.org/drawingml/2006/main" id="25" idx="3"/>
          </p:cNvCxnSpPr>
          <p:nvPr/>
        </p:nvCxnSpPr>
        <p:spPr>
          <a:xfrm xmlns:a="http://schemas.openxmlformats.org/drawingml/2006/main" flipH="1">
            <a:off x="7334250" y="4705350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9F62"/>
            </a:solidFill>
            <a:prstDash val="solid"/>
            <a:tailEnd type="triangle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E1CE35-8F4E-4394-8A62-CE75633DAEFA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9086850" y="3352800"/>
            <a:ext cx="0" cy="819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357D9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B6B218-8BF4-4EB4-93A3-FE9D58E92D74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334250" y="2819400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9E8"/>
            </a:solidFill>
            <a:prstDash val="solid"/>
            <a:tailEnd type="triangle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F59869-60B9-4987-8F27-FA93B8DC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Chất lượng và triển khai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410AA4-9A14-48CA-8054-32C8D2DE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Kiểm thử tự động, kiểm tra sẵn sàng và hai chế độ lưu trữ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DE6A84-0887-40A6-800C-6574B826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572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1769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500" b="1">
                <a:solidFill>
                  <a:srgbClr val="1769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69E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3D385-821E-424B-8930-4175DEFE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solidFill>
              <a:srgbClr val="DCE4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78A71-2C9C-41FD-843E-F8F59F11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038600" cy="4191000"/>
          </a:xfrm>
          <a:prstGeom xmlns:a="http://schemas.openxmlformats.org/drawingml/2006/main" prst="roundRect">
            <a:avLst>
              <a:gd name="adj" fmla="val 4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E8E3F-741D-412E-8369-EA713426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0B9F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0B9F62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B9F62"/>
                </a:solidFill>
                <a:latin typeface="Arial"/>
                <a:ea typeface="Arial"/>
                <a:cs typeface="Arial"/>
              </a:rPr>
              <a:t>19 / 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B1ED08-C8A6-4DA8-AECB-ECD1A2FD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bài kiểm thử đạt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620321-5EFF-4639-8E37-D366EFDC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312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solidFill>
              <a:srgbClr val="DCE4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2FE7B9-F018-44DB-B044-93DB261D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8"/>
          </a:solidFill>
          <a:ln xmlns:a="http://schemas.openxmlformats.org/drawingml/2006/main" w="0">
            <a:solidFill>
              <a:srgbClr val="1769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AAAA52-6BDB-4135-A29C-23B0654D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671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17 server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11FD6F-5729-4B96-88C1-1FE4B132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67100"/>
            <a:ext cx="1066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59157"/>
          </a:bodyPr>
          <a:lstStyle xmlns:a="http://schemas.openxmlformats.org/drawingml/2006/main">
            <a:defPPr algn="l">
              <a:defRPr sz="15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API, quyền sở hữu, database, cảnh báo và firmware package.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6283CA-3181-4634-B006-DB22C568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57D9"/>
          </a:solidFill>
          <a:ln xmlns:a="http://schemas.openxmlformats.org/drawingml/2006/main" w="0">
            <a:solidFill>
              <a:srgbClr val="7357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ED9311-336D-46FB-BA39-73CC3FE8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1485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2 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7AED29-40EA-4621-89FB-B960E4E6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14850"/>
            <a:ext cx="1066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6642"/>
          </a:bodyPr>
          <a:lstStyle xmlns:a="http://schemas.openxmlformats.org/drawingml/2006/main">
            <a:defPPr algn="l">
              <a:defRPr sz="15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Kiểm tra trích xuất đặc trưng và tính nhất quán pipeline.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DDBF85-5C76-4498-B897-7E28398E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6764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Luồng triển khai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9A3C05-75EF-411D-8A1B-4C7064D0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86000"/>
            <a:ext cx="20574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9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572BBD-4618-4B8A-9F56-D9F7CCE4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4193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Mã nguồn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C6B8D-3ED3-459B-9C9F-ED401761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622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921"/>
          </a:bodyPr>
          <a:lstStyle xmlns:a="http://schemas.openxmlformats.org/drawingml/2006/main">
            <a:defPPr algn="l"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Test server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Test AI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Compile firmware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36DA7E-3B33-48C2-8967-52955B8C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86000"/>
            <a:ext cx="20574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357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0AEA20-E8CA-45D0-87BD-EDB5FD3D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193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110F55-699F-46F7-ACE1-83E7FAC8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622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Chuẩn bị static assets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Kiểm tra migration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83C2C9-75CE-4035-A14D-EC0532EE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71950"/>
            <a:ext cx="20574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9525">
            <a:solidFill>
              <a:srgbClr val="0B9F6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956EB5-B0B9-4E84-8D1F-E27957E3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053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Production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4F5C38-4D53-4B3E-B86C-4838F6CC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482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Vercel + Turso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HTTPS công khai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80D547-3327-459A-BD1F-288BEC27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171950"/>
            <a:ext cx="20574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6"/>
          </a:solidFill>
          <a:ln xmlns:a="http://schemas.openxmlformats.org/drawingml/2006/main" w="9525">
            <a:solidFill>
              <a:srgbClr val="E86F2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BB889C-B48B-4C0D-83DD-FD92B931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3053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Runtime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341306-669B-4E2E-8D1E-2FDB0604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6482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Health liveness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Health readiness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4C32B0-0015-4593-A956-605B9CEB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543550"/>
            <a:ext cx="2114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E38"/>
          </a:solidFill>
          <a:ln xmlns:a="http://schemas.openxmlformats.org/drawingml/2006/main" w="9525">
            <a:solidFill>
              <a:srgbClr val="071E38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/api/health/ready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D51604-6382-4A5E-812F-8310B388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8FA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8FA0B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FA0B3"/>
                </a:solidFill>
                <a:latin typeface="Arial"/>
                <a:ea typeface="Arial"/>
                <a:cs typeface="Arial"/>
              </a:rPr>
              <a:t>MotorCare Edge AI · Bộ thuyết trình phần mềm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307B02-0C87-4B5C-8A9F-670A4DA3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8FA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8FA0B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FA0B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746893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8565E9-4CE6-42C2-A8DA-EC3D5073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Giá trị phần mềm và hướng mở rộng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CF490-CF29-44A3-BF1F-5515FBCF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MotorCare đã hình thành một chuỗi giám sát có thể vận hành từ đầu đến cuối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5D1C58-9A81-4875-BBB5-7CD57B03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572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1769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500" b="1">
                <a:solidFill>
                  <a:srgbClr val="1769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69E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D8E38-3C2B-4E78-AA23-FE4AFA76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B"/>
          </a:solidFill>
          <a:ln xmlns:a="http://schemas.openxmlformats.org/drawingml/2006/main" w="0">
            <a:solidFill>
              <a:srgbClr val="DCE4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183BDC-6082-4F71-88CA-FCB5D3DD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8"/>
          </a:solidFill>
          <a:ln xmlns:a="http://schemas.openxmlformats.org/drawingml/2006/main" w="0">
            <a:solidFill>
              <a:srgbClr val="1769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B7F45-BB6A-4027-83DD-213EC9AD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A957B-EE35-45BF-83FD-1E54254D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619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Thiết lập nhanh hơn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D476E4-5E03-4E1F-B5F2-CC35868E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00250"/>
            <a:ext cx="436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Tạo project firmware đã điền sẵn cấu hình, giảm thao tác sửa mã thủ công.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0D666-6C10-4A1D-A87D-D02EB49A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57D9"/>
          </a:solidFill>
          <a:ln xmlns:a="http://schemas.openxmlformats.org/drawingml/2006/main" w="0">
            <a:solidFill>
              <a:srgbClr val="7357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47CC52-A012-4090-A95A-9D6BF871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527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253A95-AA8B-4A09-9172-1CF0F41F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09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Phát hiện sớm hơn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87F890-88E6-4BF7-A544-6EEDAE9F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90850"/>
            <a:ext cx="436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Kết hợp ngưỡng hiệu chuẩn với xác suất Edge AI trong cùng cơ chế cảnh báo.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91644B-C7FB-4CA5-A6F7-CCA69F1B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9F62"/>
          </a:solidFill>
          <a:ln xmlns:a="http://schemas.openxmlformats.org/drawingml/2006/main" w="0">
            <a:solidFill>
              <a:srgbClr val="0B9F6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4F8002-5625-4E6B-8703-9F0DAEEF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414B85-E43C-4BEC-88B7-43AC275C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00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Dữ liệu tập trung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4C75BB-D8AB-42AB-9988-294F58E3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81450"/>
            <a:ext cx="436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Hồ sơ motor, chuỗi đo, cảnh báo và hiệu chuẩn nằm trong một ứng dụng.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7B1409-5A01-4CDB-A07F-3F7EE7B0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F20"/>
          </a:solidFill>
          <a:ln xmlns:a="http://schemas.openxmlformats.org/drawingml/2006/main" w="0">
            <a:solidFill>
              <a:srgbClr val="E86F2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D1D453-9571-4988-9B5E-89DBCCA0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339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F35368-FD1D-44EF-B20F-C46EFE61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910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071E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71E38"/>
                </a:solidFill>
                <a:latin typeface="Arial"/>
                <a:ea typeface="Arial"/>
                <a:cs typeface="Arial"/>
              </a:rPr>
              <a:t>Chia sẻ có kiểm soát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9B0603-5B0C-462B-834D-2CA9E6B1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72050"/>
            <a:ext cx="436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477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78B"/>
                </a:solidFill>
                <a:latin typeface="Arial"/>
                <a:ea typeface="Arial"/>
                <a:cs typeface="Arial"/>
              </a:rPr>
              <a:t>Link chỉ đọc giúp khách hàng xem trạng thái mà không truy cập chức năng quản trị.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3A8A1B-B66D-4689-A4DE-7CAE16A9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19250"/>
            <a:ext cx="5048250" cy="3981450"/>
          </a:xfrm>
          <a:prstGeom xmlns:a="http://schemas.openxmlformats.org/drawingml/2006/main" prst="roundRect">
            <a:avLst>
              <a:gd name="adj" fmla="val 5742"/>
            </a:avLst>
          </a:prstGeom>
          <a:solidFill xmlns:a="http://schemas.openxmlformats.org/drawingml/2006/main">
            <a:srgbClr val="071E38"/>
          </a:solidFill>
          <a:ln xmlns:a="http://schemas.openxmlformats.org/drawingml/2006/main" w="9525">
            <a:solidFill>
              <a:srgbClr val="071E3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0CF57E-8AFE-425C-8948-D811F2D9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62150"/>
            <a:ext cx="424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Hướng mở rộng đề xuất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414E2D-5BA5-498B-8FED-D6199B63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24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9F62"/>
          </a:solidFill>
          <a:ln xmlns:a="http://schemas.openxmlformats.org/drawingml/2006/main" w="0">
            <a:solidFill>
              <a:srgbClr val="0B9F6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832892-8FD7-4D1B-A99E-80960029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670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Thông báo đa kênh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E3E297-B8A8-4F7C-B593-0ABA255D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4795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9C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B9C8D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9C8D8"/>
                </a:solidFill>
                <a:latin typeface="Arial"/>
                <a:ea typeface="Arial"/>
                <a:cs typeface="Arial"/>
              </a:rPr>
              <a:t>Email hoặc push khi xuất hiện cảnh báo mức cao.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60A12B-8A25-4DDE-8A3C-EC757A0B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09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C8FF"/>
          </a:solidFill>
          <a:ln xmlns:a="http://schemas.openxmlformats.org/drawingml/2006/main" w="0">
            <a:solidFill>
              <a:srgbClr val="36C8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75FF38-5970-4544-9A80-E7F1D813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528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Phân quyền vai trò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8E665C-DCAB-4F4A-8431-D46D0D59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9C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B9C8D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9C8D8"/>
                </a:solidFill>
                <a:latin typeface="Arial"/>
                <a:ea typeface="Arial"/>
                <a:cs typeface="Arial"/>
              </a:rPr>
              <a:t>Tách quản trị viên, kỹ sư vận hành và người xem.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D88AB7-2153-4673-964D-ABF1E691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9F62"/>
          </a:solidFill>
          <a:ln xmlns:a="http://schemas.openxmlformats.org/drawingml/2006/main" w="0">
            <a:solidFill>
              <a:srgbClr val="0B9F6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9EDB73-5AB1-489F-B875-0A75C659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386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982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Theo dõi phiên bản mô hình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F8D438-7F1D-49F7-9BBB-EE6A5D82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1955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916"/>
          </a:bodyPr>
          <a:lstStyle xmlns:a="http://schemas.openxmlformats.org/drawingml/2006/main">
            <a:defPPr algn="l">
              <a:defRPr sz="1200" b="0">
                <a:solidFill>
                  <a:srgbClr val="B9C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B9C8D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9C8D8"/>
                </a:solidFill>
                <a:latin typeface="Arial"/>
                <a:ea typeface="Arial"/>
                <a:cs typeface="Arial"/>
              </a:rPr>
              <a:t>Ghi nhận model version và chất lượng suy luận theo thời gian.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3D84EF-E25D-41F0-819A-C351F2BC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81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C8FF"/>
          </a:solidFill>
          <a:ln xmlns:a="http://schemas.openxmlformats.org/drawingml/2006/main" w="0">
            <a:solidFill>
              <a:srgbClr val="36C8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C49DF7-98B1-4841-82A2-953AE258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244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Báo cáo định kỳ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3C7188-5D76-4888-837B-542C2633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0535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209"/>
          </a:bodyPr>
          <a:lstStyle xmlns:a="http://schemas.openxmlformats.org/drawingml/2006/main">
            <a:defPPr algn="l">
              <a:defRPr sz="1200" b="0">
                <a:solidFill>
                  <a:srgbClr val="B9C8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B9C8D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9C8D8"/>
                </a:solidFill>
                <a:latin typeface="Arial"/>
                <a:ea typeface="Arial"/>
                <a:cs typeface="Arial"/>
              </a:rPr>
              <a:t>Tổng hợp sức khỏe motor và lịch sử sự cố theo tuần hoặc tháng.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8094C8-94A3-409F-81A4-21F80C62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753100"/>
            <a:ext cx="2838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6"/>
          </a:solidFill>
          <a:ln xmlns:a="http://schemas.openxmlformats.org/drawingml/2006/main" w="9525">
            <a:solidFill>
              <a:srgbClr val="F7C7A6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E86F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E86F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86F20"/>
                </a:solidFill>
                <a:latin typeface="Arial"/>
                <a:ea typeface="Arial"/>
                <a:cs typeface="Arial"/>
              </a:rPr>
              <a:t>ĐỀ XUẤT · CHƯA TRIỂN KHAI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FCE256-7031-4FFD-95A6-86908F61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8FA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8FA0B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FA0B3"/>
                </a:solidFill>
                <a:latin typeface="Arial"/>
                <a:ea typeface="Arial"/>
                <a:cs typeface="Arial"/>
              </a:rPr>
              <a:t>MotorCare Edge AI · Bộ thuyết trình phần mềm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AA4843-858F-4087-A8FA-BBD36844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8FA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8FA0B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FA0B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821675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2026-10-15T14:13:47.5820000Z</dcterms:created>
  <dcterms:modified xsi:type="dcterms:W3CDTF">2026-10-15T14:13:47.5820000Z</dcterms:modified>
</coreProperties>
</file>